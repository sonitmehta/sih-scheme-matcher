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Arimo Bold" charset="1" panose="020B0704020202020204"/>
      <p:regular r:id="rId15"/>
    </p:embeddedFont>
    <p:embeddedFont>
      <p:font typeface="Arimo" charset="1" panose="020B0604020202020204"/>
      <p:regular r:id="rId16"/>
    </p:embeddedFont>
    <p:embeddedFont>
      <p:font typeface="Calibri (MS)" charset="1" panose="020F0502020204030204"/>
      <p:regular r:id="rId17"/>
    </p:embeddedFont>
    <p:embeddedFont>
      <p:font typeface="Times New Roman Bold Italics" charset="1" panose="020207030605050903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12" Target="../media/image36.png" Type="http://schemas.openxmlformats.org/officeDocument/2006/relationships/image"/><Relationship Id="rId13" Target="../media/image37.sv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https://antigravity.google" TargetMode="External" Type="http://schemas.openxmlformats.org/officeDocument/2006/relationships/hyperlink"/><Relationship Id="rId5" Target="https://myscheme.gov.in" TargetMode="External" Type="http://schemas.openxmlformats.org/officeDocument/2006/relationships/hyperlink"/><Relationship Id="rId6" Target="https://bhashini.gov.in" TargetMode="External" Type="http://schemas.openxmlformats.org/officeDocument/2006/relationships/hyperlink"/><Relationship Id="rId7" Target="https://sbert.net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36998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417210" y="2701948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59969" y="990067"/>
            <a:ext cx="1261872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24978" y="2143378"/>
            <a:ext cx="8703945" cy="760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26092</a:t>
            </a:r>
          </a:p>
          <a:p>
            <a:pPr algn="just" marL="542928" indent="-271464" lvl="1">
              <a:lnSpc>
                <a:spcPts val="7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 - AI-Driven Scheme Matching for Marginalized Entrepreneurs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Smart Automation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Software/Hardware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Name- CORTEX CREW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5612" y="-855002"/>
            <a:ext cx="16459200" cy="2077907"/>
            <a:chOff x="0" y="0"/>
            <a:chExt cx="21945600" cy="27705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770542"/>
            </a:xfrm>
            <a:custGeom>
              <a:avLst/>
              <a:gdLst/>
              <a:ahLst/>
              <a:cxnLst/>
              <a:rect r="r" b="b" t="t" l="l"/>
              <a:pathLst>
                <a:path h="277054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770542"/>
                  </a:lnTo>
                  <a:lnTo>
                    <a:pt x="0" y="277054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086" r="0" b="-9559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0" cy="28086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079"/>
                </a:lnSpc>
              </a:pPr>
            </a:p>
            <a:p>
              <a:pPr algn="ctr">
                <a:lnSpc>
                  <a:spcPts val="7079"/>
                </a:lnSpc>
              </a:pPr>
              <a:r>
                <a:rPr lang="en-US" b="true" sz="5899" u="sng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CORTEX CREW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-5400000">
            <a:off x="-682830" y="3234216"/>
            <a:ext cx="7460166" cy="4588002"/>
          </a:xfrm>
          <a:custGeom>
            <a:avLst/>
            <a:gdLst/>
            <a:ahLst/>
            <a:cxnLst/>
            <a:rect r="r" b="b" t="t" l="l"/>
            <a:pathLst>
              <a:path h="4588002" w="7460166">
                <a:moveTo>
                  <a:pt x="0" y="0"/>
                </a:moveTo>
                <a:lnTo>
                  <a:pt x="7460166" y="0"/>
                </a:lnTo>
                <a:lnTo>
                  <a:pt x="7460166" y="4588002"/>
                </a:lnTo>
                <a:lnTo>
                  <a:pt x="0" y="4588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5400000">
            <a:off x="4755352" y="3166714"/>
            <a:ext cx="7458107" cy="4586736"/>
          </a:xfrm>
          <a:custGeom>
            <a:avLst/>
            <a:gdLst/>
            <a:ahLst/>
            <a:cxnLst/>
            <a:rect r="r" b="b" t="t" l="l"/>
            <a:pathLst>
              <a:path h="4586736" w="7458107">
                <a:moveTo>
                  <a:pt x="0" y="0"/>
                </a:moveTo>
                <a:lnTo>
                  <a:pt x="7458108" y="0"/>
                </a:lnTo>
                <a:lnTo>
                  <a:pt x="7458108" y="4586736"/>
                </a:lnTo>
                <a:lnTo>
                  <a:pt x="0" y="4586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5400000">
            <a:off x="10119196" y="3161308"/>
            <a:ext cx="7458107" cy="4586736"/>
          </a:xfrm>
          <a:custGeom>
            <a:avLst/>
            <a:gdLst/>
            <a:ahLst/>
            <a:cxnLst/>
            <a:rect r="r" b="b" t="t" l="l"/>
            <a:pathLst>
              <a:path h="4586736" w="7458107">
                <a:moveTo>
                  <a:pt x="0" y="0"/>
                </a:moveTo>
                <a:lnTo>
                  <a:pt x="7458107" y="0"/>
                </a:lnTo>
                <a:lnTo>
                  <a:pt x="7458107" y="4586736"/>
                </a:lnTo>
                <a:lnTo>
                  <a:pt x="0" y="4586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288053" y="1772887"/>
            <a:ext cx="1809894" cy="2080338"/>
          </a:xfrm>
          <a:custGeom>
            <a:avLst/>
            <a:gdLst/>
            <a:ahLst/>
            <a:cxnLst/>
            <a:rect r="r" b="b" t="t" l="l"/>
            <a:pathLst>
              <a:path h="2080338" w="1809894">
                <a:moveTo>
                  <a:pt x="0" y="0"/>
                </a:moveTo>
                <a:lnTo>
                  <a:pt x="1809895" y="0"/>
                </a:lnTo>
                <a:lnTo>
                  <a:pt x="1809895" y="2080338"/>
                </a:lnTo>
                <a:lnTo>
                  <a:pt x="0" y="20803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845140" y="230602"/>
            <a:ext cx="1404504" cy="1682041"/>
          </a:xfrm>
          <a:custGeom>
            <a:avLst/>
            <a:gdLst/>
            <a:ahLst/>
            <a:cxnLst/>
            <a:rect r="r" b="b" t="t" l="l"/>
            <a:pathLst>
              <a:path h="1682041" w="1404504">
                <a:moveTo>
                  <a:pt x="0" y="0"/>
                </a:moveTo>
                <a:lnTo>
                  <a:pt x="1404504" y="0"/>
                </a:lnTo>
                <a:lnTo>
                  <a:pt x="1404504" y="1682041"/>
                </a:lnTo>
                <a:lnTo>
                  <a:pt x="0" y="16820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353123" y="6614673"/>
            <a:ext cx="2759248" cy="2372953"/>
          </a:xfrm>
          <a:custGeom>
            <a:avLst/>
            <a:gdLst/>
            <a:ahLst/>
            <a:cxnLst/>
            <a:rect r="r" b="b" t="t" l="l"/>
            <a:pathLst>
              <a:path h="2372953" w="2759248">
                <a:moveTo>
                  <a:pt x="0" y="0"/>
                </a:moveTo>
                <a:lnTo>
                  <a:pt x="2759247" y="0"/>
                </a:lnTo>
                <a:lnTo>
                  <a:pt x="2759247" y="2372952"/>
                </a:lnTo>
                <a:lnTo>
                  <a:pt x="0" y="23729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18873" y="3424782"/>
            <a:ext cx="4444335" cy="1167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0"/>
              </a:lnSpc>
            </a:pPr>
            <a:r>
              <a:rPr lang="en-US" sz="190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•Entrepreneur enters category, location, sector, business stage, and a short description of their business</a:t>
            </a:r>
          </a:p>
          <a:p>
            <a:pPr algn="ctr">
              <a:lnSpc>
                <a:spcPts val="2290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4573228"/>
            <a:ext cx="4041637" cy="175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•Each matched scheme is shown as a plain-language card: What you get, What you need, How to apply</a:t>
            </a:r>
          </a:p>
          <a:p>
            <a:pPr algn="ctr">
              <a:lnSpc>
                <a:spcPts val="6480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918873" y="5802916"/>
            <a:ext cx="4041637" cy="1604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3"/>
              </a:lnSpc>
            </a:pPr>
            <a:r>
              <a:rPr lang="en-US" sz="221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•System filters schemes by hard eligibility rules, then ranks remaining schemes using NLP-based semantic matching</a:t>
            </a:r>
          </a:p>
          <a:p>
            <a:pPr algn="ctr">
              <a:lnSpc>
                <a:spcPts val="1864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7474469"/>
            <a:ext cx="4207258" cy="926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2"/>
              </a:lnSpc>
            </a:pPr>
            <a:r>
              <a:rPr lang="en-US" sz="212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•Results available as text and voice, in English plus a regional language</a:t>
            </a:r>
          </a:p>
          <a:p>
            <a:pPr algn="ctr">
              <a:lnSpc>
                <a:spcPts val="2041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912961" y="1914291"/>
            <a:ext cx="4271298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0"/>
              </a:lnSpc>
              <a:spcBef>
                <a:spcPct val="0"/>
              </a:spcBef>
            </a:pPr>
            <a:r>
              <a:rPr lang="en-US" b="true" sz="4300" i="true" u="sng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Detailed Explanation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191038" y="3582843"/>
            <a:ext cx="4570037" cy="170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sz="2104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•Replaces manual search across hundreds of scattered scheme portals with a single guided flow</a:t>
            </a:r>
          </a:p>
          <a:p>
            <a:pPr algn="ctr">
              <a:lnSpc>
                <a:spcPts val="5928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6333567" y="4828130"/>
            <a:ext cx="4284978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2"/>
              </a:lnSpc>
            </a:pPr>
            <a:r>
              <a:rPr lang="en-US" sz="210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•Converts dense legal eligibility text into short, plain-language summaries</a:t>
            </a:r>
          </a:p>
          <a:p>
            <a:pPr algn="ctr">
              <a:lnSpc>
                <a:spcPts val="5838"/>
              </a:lnSpc>
              <a:spcBef>
                <a:spcPct val="0"/>
              </a:spcBef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6191038" y="7061465"/>
            <a:ext cx="4690495" cy="175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•Works for both individual users and NGO/CSC intermediaries assisting multiple entrepreneurs</a:t>
            </a:r>
          </a:p>
          <a:p>
            <a:pPr algn="ctr">
              <a:lnSpc>
                <a:spcPts val="6480"/>
              </a:lnSpc>
              <a:spcBef>
                <a:spcPct val="0"/>
              </a:spcBef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6382344" y="5802916"/>
            <a:ext cx="4307883" cy="1694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2175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•Removes the language barrier through regional-language text and voice output</a:t>
            </a:r>
          </a:p>
          <a:p>
            <a:pPr algn="ctr">
              <a:lnSpc>
                <a:spcPts val="5561"/>
              </a:lnSpc>
              <a:spcBef>
                <a:spcPct val="0"/>
              </a:spcBef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6333567" y="1992131"/>
            <a:ext cx="4547965" cy="2075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5"/>
              </a:lnSpc>
            </a:pPr>
            <a:r>
              <a:rPr lang="en-US" b="true" sz="4138" i="true" u="sng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How It Addresses the Problem</a:t>
            </a:r>
          </a:p>
          <a:p>
            <a:pPr algn="ctr">
              <a:lnSpc>
                <a:spcPts val="6384"/>
              </a:lnSpc>
              <a:spcBef>
                <a:spcPct val="0"/>
              </a:spcBef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11872133" y="3687740"/>
            <a:ext cx="4052069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•Semantic (embedding-based) matching catches relevant schemes even when wording differs from the user's own — not just keyword search</a:t>
            </a:r>
          </a:p>
          <a:p>
            <a:pPr algn="ctr">
              <a:lnSpc>
                <a:spcPts val="2280"/>
              </a:lnSpc>
              <a:spcBef>
                <a:spcPct val="0"/>
              </a:spcBef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11729258" y="5545115"/>
            <a:ext cx="4308404" cy="186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1"/>
              </a:lnSpc>
            </a:pPr>
            <a:r>
              <a:rPr lang="en-US" sz="212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•Purpose-built for marginalized users: voice-first, regional language, low-literacy-friendly design</a:t>
            </a:r>
          </a:p>
          <a:p>
            <a:pPr algn="ctr">
              <a:lnSpc>
                <a:spcPts val="6889"/>
              </a:lnSpc>
              <a:spcBef>
                <a:spcPct val="0"/>
              </a:spcBef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11686572" y="7032890"/>
            <a:ext cx="4323356" cy="178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•Combines rule-based eligibility certainty with AI-based relevance ranking</a:t>
            </a:r>
          </a:p>
          <a:p>
            <a:pPr algn="ctr">
              <a:lnSpc>
                <a:spcPts val="6480"/>
              </a:lnSpc>
              <a:spcBef>
                <a:spcPct val="0"/>
              </a:spcBef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1438718" y="1905642"/>
            <a:ext cx="4819064" cy="216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5"/>
              </a:lnSpc>
            </a:pPr>
            <a:r>
              <a:rPr lang="en-US" b="true" sz="3962" i="true" u="sng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Innovation &amp; Uniqueness</a:t>
            </a:r>
          </a:p>
          <a:p>
            <a:pPr algn="ctr">
              <a:lnSpc>
                <a:spcPts val="741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 u="sng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CORTEX CREW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02014" y="-7143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588512" y="1571405"/>
            <a:ext cx="7144190" cy="7144190"/>
          </a:xfrm>
          <a:custGeom>
            <a:avLst/>
            <a:gdLst/>
            <a:ahLst/>
            <a:cxnLst/>
            <a:rect r="r" b="b" t="t" l="l"/>
            <a:pathLst>
              <a:path h="7144190" w="7144190">
                <a:moveTo>
                  <a:pt x="0" y="0"/>
                </a:moveTo>
                <a:lnTo>
                  <a:pt x="7144190" y="0"/>
                </a:lnTo>
                <a:lnTo>
                  <a:pt x="7144190" y="7144190"/>
                </a:lnTo>
                <a:lnTo>
                  <a:pt x="0" y="71441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658215" y="1643062"/>
            <a:ext cx="6240172" cy="7017606"/>
          </a:xfrm>
          <a:custGeom>
            <a:avLst/>
            <a:gdLst/>
            <a:ahLst/>
            <a:cxnLst/>
            <a:rect r="r" b="b" t="t" l="l"/>
            <a:pathLst>
              <a:path h="7017606" w="6240172">
                <a:moveTo>
                  <a:pt x="0" y="0"/>
                </a:moveTo>
                <a:lnTo>
                  <a:pt x="6240171" y="0"/>
                </a:lnTo>
                <a:lnTo>
                  <a:pt x="6240171" y="7017606"/>
                </a:lnTo>
                <a:lnTo>
                  <a:pt x="0" y="70176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055" r="-3035" b="-4471"/>
            </a:stretch>
          </a:blipFill>
          <a:ln w="38100" cap="rnd">
            <a:solidFill>
              <a:srgbClr val="217B48"/>
            </a:solidFill>
            <a:prstDash val="lgDash"/>
            <a:round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5053521" y="2244094"/>
            <a:ext cx="2923267" cy="3230129"/>
          </a:xfrm>
          <a:custGeom>
            <a:avLst/>
            <a:gdLst/>
            <a:ahLst/>
            <a:cxnLst/>
            <a:rect r="r" b="b" t="t" l="l"/>
            <a:pathLst>
              <a:path h="3230129" w="2923267">
                <a:moveTo>
                  <a:pt x="0" y="0"/>
                </a:moveTo>
                <a:lnTo>
                  <a:pt x="2923267" y="0"/>
                </a:lnTo>
                <a:lnTo>
                  <a:pt x="2923267" y="3230130"/>
                </a:lnTo>
                <a:lnTo>
                  <a:pt x="0" y="32301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429273" y="6235795"/>
            <a:ext cx="2547515" cy="2534778"/>
          </a:xfrm>
          <a:custGeom>
            <a:avLst/>
            <a:gdLst/>
            <a:ahLst/>
            <a:cxnLst/>
            <a:rect r="r" b="b" t="t" l="l"/>
            <a:pathLst>
              <a:path h="2534778" w="2547515">
                <a:moveTo>
                  <a:pt x="0" y="0"/>
                </a:moveTo>
                <a:lnTo>
                  <a:pt x="2547515" y="0"/>
                </a:lnTo>
                <a:lnTo>
                  <a:pt x="2547515" y="2534778"/>
                </a:lnTo>
                <a:lnTo>
                  <a:pt x="0" y="25347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372045" y="1602369"/>
            <a:ext cx="5843906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34"/>
              </a:lnSpc>
              <a:spcBef>
                <a:spcPct val="0"/>
              </a:spcBef>
            </a:pPr>
            <a:r>
              <a:rPr lang="en-US" b="true" sz="5612" i="true" u="sng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Technologies Used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1032" y="2869048"/>
            <a:ext cx="6001268" cy="6263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0"/>
              </a:lnSpc>
            </a:pPr>
            <a:r>
              <a:rPr lang="en-US" sz="23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•Frontend: React + Tailwind CSS</a:t>
            </a:r>
          </a:p>
          <a:p>
            <a:pPr algn="ctr">
              <a:lnSpc>
                <a:spcPts val="2820"/>
              </a:lnSpc>
            </a:pPr>
          </a:p>
          <a:p>
            <a:pPr algn="ctr">
              <a:lnSpc>
                <a:spcPts val="2820"/>
              </a:lnSpc>
            </a:pPr>
            <a:r>
              <a:rPr lang="en-US" sz="23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•Backend: FastAPI (Python)</a:t>
            </a:r>
          </a:p>
          <a:p>
            <a:pPr algn="ctr">
              <a:lnSpc>
                <a:spcPts val="2618"/>
              </a:lnSpc>
            </a:pPr>
          </a:p>
          <a:p>
            <a:pPr algn="ctr">
              <a:lnSpc>
                <a:spcPts val="2618"/>
              </a:lnSpc>
            </a:pPr>
            <a:r>
              <a:rPr lang="en-US" sz="218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•Database: PostgreSQL </a:t>
            </a:r>
          </a:p>
          <a:p>
            <a:pPr algn="ctr">
              <a:lnSpc>
                <a:spcPts val="2618"/>
              </a:lnSpc>
            </a:pPr>
          </a:p>
          <a:p>
            <a:pPr algn="ctr">
              <a:lnSpc>
                <a:spcPts val="2518"/>
              </a:lnSpc>
            </a:pPr>
            <a:r>
              <a:rPr lang="en-US" sz="209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•NLP Matching: Sentence-Transformers (embeddings + cosine similarity)</a:t>
            </a:r>
          </a:p>
          <a:p>
            <a:pPr algn="ctr">
              <a:lnSpc>
                <a:spcPts val="2518"/>
              </a:lnSpc>
            </a:pPr>
          </a:p>
          <a:p>
            <a:pPr algn="ctr">
              <a:lnSpc>
                <a:spcPts val="2518"/>
              </a:lnSpc>
            </a:pPr>
            <a:r>
              <a:rPr lang="en-US" sz="209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</a:t>
            </a:r>
            <a:r>
              <a:rPr lang="en-US" sz="209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Summarization: Pre-generated plain-language scheme summaries</a:t>
            </a:r>
          </a:p>
          <a:p>
            <a:pPr algn="ctr">
              <a:lnSpc>
                <a:spcPts val="2518"/>
              </a:lnSpc>
            </a:pPr>
          </a:p>
          <a:p>
            <a:pPr algn="ctr">
              <a:lnSpc>
                <a:spcPts val="2518"/>
              </a:lnSpc>
            </a:pPr>
            <a:r>
              <a:rPr lang="en-US" sz="209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•Language &amp; Voice: Bhashini API (translation + text-to-speech)</a:t>
            </a:r>
          </a:p>
          <a:p>
            <a:pPr algn="ctr">
              <a:lnSpc>
                <a:spcPts val="2518"/>
              </a:lnSpc>
            </a:pPr>
          </a:p>
          <a:p>
            <a:pPr algn="ctr">
              <a:lnSpc>
                <a:spcPts val="2518"/>
              </a:lnSpc>
            </a:pPr>
            <a:r>
              <a:rPr lang="en-US" sz="209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•Optional (stretch): OCR + lightweight CNN for document auto-fill</a:t>
            </a:r>
          </a:p>
          <a:p>
            <a:pPr algn="ctr">
              <a:lnSpc>
                <a:spcPts val="54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 u="sng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CORTEX CREW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-344901" y="2181882"/>
            <a:ext cx="7216531" cy="6206217"/>
          </a:xfrm>
          <a:custGeom>
            <a:avLst/>
            <a:gdLst/>
            <a:ahLst/>
            <a:cxnLst/>
            <a:rect r="r" b="b" t="t" l="l"/>
            <a:pathLst>
              <a:path h="6206217" w="7216531">
                <a:moveTo>
                  <a:pt x="0" y="0"/>
                </a:moveTo>
                <a:lnTo>
                  <a:pt x="7216532" y="0"/>
                </a:lnTo>
                <a:lnTo>
                  <a:pt x="7216532" y="6206217"/>
                </a:lnTo>
                <a:lnTo>
                  <a:pt x="0" y="62062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197578" y="2236795"/>
            <a:ext cx="7216531" cy="6206217"/>
          </a:xfrm>
          <a:custGeom>
            <a:avLst/>
            <a:gdLst/>
            <a:ahLst/>
            <a:cxnLst/>
            <a:rect r="r" b="b" t="t" l="l"/>
            <a:pathLst>
              <a:path h="6206217" w="7216531">
                <a:moveTo>
                  <a:pt x="0" y="0"/>
                </a:moveTo>
                <a:lnTo>
                  <a:pt x="7216532" y="0"/>
                </a:lnTo>
                <a:lnTo>
                  <a:pt x="7216532" y="6206217"/>
                </a:lnTo>
                <a:lnTo>
                  <a:pt x="0" y="62062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609048" y="2181882"/>
            <a:ext cx="7216531" cy="6206217"/>
          </a:xfrm>
          <a:custGeom>
            <a:avLst/>
            <a:gdLst/>
            <a:ahLst/>
            <a:cxnLst/>
            <a:rect r="r" b="b" t="t" l="l"/>
            <a:pathLst>
              <a:path h="6206217" w="7216531">
                <a:moveTo>
                  <a:pt x="0" y="0"/>
                </a:moveTo>
                <a:lnTo>
                  <a:pt x="7216531" y="0"/>
                </a:lnTo>
                <a:lnTo>
                  <a:pt x="7216531" y="6206217"/>
                </a:lnTo>
                <a:lnTo>
                  <a:pt x="0" y="62062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941957" y="3117490"/>
            <a:ext cx="5899547" cy="3590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•Government scheme data changes over time and needs periodic updates</a:t>
            </a:r>
          </a:p>
          <a:p>
            <a:pPr algn="ctr">
              <a:lnSpc>
                <a:spcPts val="3600"/>
              </a:lnSpc>
            </a:pPr>
          </a:p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•Full multilingual coverage is hard to achieve in limited time</a:t>
            </a:r>
          </a:p>
          <a:p>
            <a:pPr algn="ctr">
              <a:lnSpc>
                <a:spcPts val="6480"/>
              </a:lnSpc>
              <a:spcBef>
                <a:spcPct val="0"/>
              </a:spcBef>
            </a:pP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5915882" y="7539830"/>
            <a:ext cx="1911498" cy="1806365"/>
          </a:xfrm>
          <a:custGeom>
            <a:avLst/>
            <a:gdLst/>
            <a:ahLst/>
            <a:cxnLst/>
            <a:rect r="r" b="b" t="t" l="l"/>
            <a:pathLst>
              <a:path h="1806365" w="1911498">
                <a:moveTo>
                  <a:pt x="0" y="0"/>
                </a:moveTo>
                <a:lnTo>
                  <a:pt x="1911497" y="0"/>
                </a:lnTo>
                <a:lnTo>
                  <a:pt x="1911497" y="1806365"/>
                </a:lnTo>
                <a:lnTo>
                  <a:pt x="0" y="18063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572572" y="7273244"/>
            <a:ext cx="2072951" cy="2072951"/>
          </a:xfrm>
          <a:custGeom>
            <a:avLst/>
            <a:gdLst/>
            <a:ahLst/>
            <a:cxnLst/>
            <a:rect r="r" b="b" t="t" l="l"/>
            <a:pathLst>
              <a:path h="2072951" w="2072951">
                <a:moveTo>
                  <a:pt x="0" y="0"/>
                </a:moveTo>
                <a:lnTo>
                  <a:pt x="2072951" y="0"/>
                </a:lnTo>
                <a:lnTo>
                  <a:pt x="2072951" y="2072951"/>
                </a:lnTo>
                <a:lnTo>
                  <a:pt x="0" y="20729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85439" y="3071813"/>
            <a:ext cx="5746038" cy="411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</a:pPr>
            <a:r>
              <a:rPr lang="en-US" sz="3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•Core matching flow buildable within a 36-hour hackathon window</a:t>
            </a:r>
          </a:p>
          <a:p>
            <a:pPr algn="ctr">
              <a:lnSpc>
                <a:spcPts val="3720"/>
              </a:lnSpc>
            </a:pPr>
          </a:p>
          <a:p>
            <a:pPr algn="ctr">
              <a:lnSpc>
                <a:spcPts val="3720"/>
              </a:lnSpc>
            </a:pPr>
            <a:r>
              <a:rPr lang="en-US" sz="3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•Uses free, pre-trained embedding models — no GPU or paid infra required</a:t>
            </a:r>
          </a:p>
          <a:p>
            <a:pPr algn="ctr">
              <a:lnSpc>
                <a:spcPts val="6480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475612" y="6698145"/>
            <a:ext cx="5677699" cy="221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•Scheme data is public information, easily curated for a working demo</a:t>
            </a:r>
          </a:p>
          <a:p>
            <a:pPr algn="ctr">
              <a:lnSpc>
                <a:spcPts val="6480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332405" y="1786159"/>
            <a:ext cx="4820906" cy="1565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1"/>
              </a:lnSpc>
            </a:pPr>
            <a:r>
              <a:rPr lang="en-US" b="true" sz="4717" i="true" u="sng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Feasibility Analysis</a:t>
            </a:r>
          </a:p>
          <a:p>
            <a:pPr algn="ctr">
              <a:lnSpc>
                <a:spcPts val="6582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7198219" y="6327426"/>
            <a:ext cx="5282701" cy="224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</a:pPr>
            <a:r>
              <a:rPr lang="en-US" sz="3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•Live translation/LLM APIs may be slow or fail during a demo</a:t>
            </a:r>
          </a:p>
          <a:p>
            <a:pPr algn="ctr">
              <a:lnSpc>
                <a:spcPts val="6480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7198219" y="1687705"/>
            <a:ext cx="5800992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0"/>
              </a:lnSpc>
            </a:pPr>
            <a:r>
              <a:rPr lang="en-US" b="true" sz="5100" i="true" u="sng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Challenges &amp; Risks</a:t>
            </a:r>
          </a:p>
          <a:p>
            <a:pPr algn="ctr">
              <a:lnSpc>
                <a:spcPts val="6480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3106400" y="3138487"/>
            <a:ext cx="5196777" cy="404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•Design a periodic-sync pipeline (roadmap item) instead of live scraping for MVP</a:t>
            </a:r>
          </a:p>
          <a:p>
            <a:pPr algn="ctr">
              <a:lnSpc>
                <a:spcPts val="3600"/>
              </a:lnSpc>
            </a:pPr>
          </a:p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•Demo 1-2 regional languages convincingly rather than claim full coverage</a:t>
            </a:r>
          </a:p>
          <a:p>
            <a:pPr algn="ctr">
              <a:lnSpc>
                <a:spcPts val="6480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3101923" y="6609015"/>
            <a:ext cx="5407080" cy="221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•Pre-generate summaries and translations offline to remove live-call risk</a:t>
            </a:r>
          </a:p>
          <a:p>
            <a:pPr algn="ctr">
              <a:lnSpc>
                <a:spcPts val="6480"/>
              </a:lnSpc>
              <a:spcBef>
                <a:spcPct val="0"/>
              </a:spcBef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13327218" y="1822768"/>
            <a:ext cx="4829523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4200" i="true" u="sng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Mitigation Strategies</a:t>
            </a:r>
          </a:p>
          <a:p>
            <a:pPr algn="ctr">
              <a:lnSpc>
                <a:spcPts val="64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 u="sng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CORTEX CREW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701119" y="1643062"/>
            <a:ext cx="7169290" cy="7169290"/>
          </a:xfrm>
          <a:custGeom>
            <a:avLst/>
            <a:gdLst/>
            <a:ahLst/>
            <a:cxnLst/>
            <a:rect r="r" b="b" t="t" l="l"/>
            <a:pathLst>
              <a:path h="7169290" w="7169290">
                <a:moveTo>
                  <a:pt x="0" y="0"/>
                </a:moveTo>
                <a:lnTo>
                  <a:pt x="7169290" y="0"/>
                </a:lnTo>
                <a:lnTo>
                  <a:pt x="7169290" y="7169290"/>
                </a:lnTo>
                <a:lnTo>
                  <a:pt x="0" y="71692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w="28575" cap="sq">
            <a:solidFill>
              <a:srgbClr val="000000"/>
            </a:solidFill>
            <a:prstDash val="lgDash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-5400000">
            <a:off x="13148890" y="69145"/>
            <a:ext cx="192542" cy="9627099"/>
          </a:xfrm>
          <a:custGeom>
            <a:avLst/>
            <a:gdLst/>
            <a:ahLst/>
            <a:cxnLst/>
            <a:rect r="r" b="b" t="t" l="l"/>
            <a:pathLst>
              <a:path h="9627099" w="192542">
                <a:moveTo>
                  <a:pt x="0" y="0"/>
                </a:moveTo>
                <a:lnTo>
                  <a:pt x="192542" y="0"/>
                </a:lnTo>
                <a:lnTo>
                  <a:pt x="192542" y="9627099"/>
                </a:lnTo>
                <a:lnTo>
                  <a:pt x="0" y="96270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532835" y="1332647"/>
            <a:ext cx="1441984" cy="1427564"/>
          </a:xfrm>
          <a:custGeom>
            <a:avLst/>
            <a:gdLst/>
            <a:ahLst/>
            <a:cxnLst/>
            <a:rect r="r" b="b" t="t" l="l"/>
            <a:pathLst>
              <a:path h="1427564" w="1441984">
                <a:moveTo>
                  <a:pt x="0" y="0"/>
                </a:moveTo>
                <a:lnTo>
                  <a:pt x="1441984" y="0"/>
                </a:lnTo>
                <a:lnTo>
                  <a:pt x="1441984" y="1427565"/>
                </a:lnTo>
                <a:lnTo>
                  <a:pt x="0" y="14275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103633" y="7625609"/>
            <a:ext cx="1894331" cy="1903850"/>
          </a:xfrm>
          <a:custGeom>
            <a:avLst/>
            <a:gdLst/>
            <a:ahLst/>
            <a:cxnLst/>
            <a:rect r="r" b="b" t="t" l="l"/>
            <a:pathLst>
              <a:path h="1903850" w="1894331">
                <a:moveTo>
                  <a:pt x="0" y="0"/>
                </a:moveTo>
                <a:lnTo>
                  <a:pt x="1894331" y="0"/>
                </a:lnTo>
                <a:lnTo>
                  <a:pt x="1894331" y="1903850"/>
                </a:lnTo>
                <a:lnTo>
                  <a:pt x="0" y="19038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060919" y="7765458"/>
            <a:ext cx="1349836" cy="1322839"/>
          </a:xfrm>
          <a:custGeom>
            <a:avLst/>
            <a:gdLst/>
            <a:ahLst/>
            <a:cxnLst/>
            <a:rect r="r" b="b" t="t" l="l"/>
            <a:pathLst>
              <a:path h="1322839" w="1349836">
                <a:moveTo>
                  <a:pt x="0" y="0"/>
                </a:moveTo>
                <a:lnTo>
                  <a:pt x="1349836" y="0"/>
                </a:lnTo>
                <a:lnTo>
                  <a:pt x="1349836" y="1322839"/>
                </a:lnTo>
                <a:lnTo>
                  <a:pt x="0" y="132283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14400" y="3394628"/>
            <a:ext cx="6742727" cy="529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8"/>
              </a:lnSpc>
            </a:pPr>
            <a:r>
              <a:rPr lang="en-US" sz="289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•Cuts scheme-discovery time from hours of manual search to under 2 minutes</a:t>
            </a:r>
          </a:p>
          <a:p>
            <a:pPr algn="ctr">
              <a:lnSpc>
                <a:spcPts val="3478"/>
              </a:lnSpc>
            </a:pPr>
          </a:p>
          <a:p>
            <a:pPr algn="ctr">
              <a:lnSpc>
                <a:spcPts val="3478"/>
              </a:lnSpc>
            </a:pPr>
            <a:r>
              <a:rPr lang="en-US" sz="289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•Directly serves women, SC/ST, minority, and rural/informal-sector entrepreneurs who are least likely to discover schemes today</a:t>
            </a:r>
          </a:p>
          <a:p>
            <a:pPr algn="ctr">
              <a:lnSpc>
                <a:spcPts val="3478"/>
              </a:lnSpc>
            </a:pPr>
          </a:p>
          <a:p>
            <a:pPr algn="ctr">
              <a:lnSpc>
                <a:spcPts val="3478"/>
              </a:lnSpc>
            </a:pPr>
            <a:r>
              <a:rPr lang="en-US" sz="289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•Enables NGOs and Common Service Centres to assist many applicants efficiently through one platform</a:t>
            </a:r>
          </a:p>
          <a:p>
            <a:pPr algn="ctr">
              <a:lnSpc>
                <a:spcPts val="3478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776505" y="1624012"/>
            <a:ext cx="7018517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4200" i="true" u="sng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Potential Impact on Target Audience</a:t>
            </a:r>
          </a:p>
          <a:p>
            <a:pPr algn="ctr">
              <a:lnSpc>
                <a:spcPts val="4320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8816065" y="2984730"/>
            <a:ext cx="9114338" cy="2580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2"/>
              </a:lnSpc>
            </a:pPr>
            <a:r>
              <a:rPr lang="en-US" sz="3177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Greater financial inclusion and dignity of access — entrepreneurs no longer excluded from benefits due to language or literacy barriers</a:t>
            </a:r>
          </a:p>
          <a:p>
            <a:pPr algn="ctr">
              <a:lnSpc>
                <a:spcPts val="8950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1583077" y="1776634"/>
            <a:ext cx="3981212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  <a:spcBef>
                <a:spcPct val="0"/>
              </a:spcBef>
            </a:pPr>
            <a:r>
              <a:rPr lang="en-US" b="true" sz="5400" i="true" u="sng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Social Benefit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763986" y="5279665"/>
            <a:ext cx="5619393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  <a:spcBef>
                <a:spcPct val="0"/>
              </a:spcBef>
            </a:pPr>
            <a:r>
              <a:rPr lang="en-US" b="true" sz="5400" i="true" u="sng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Economical Benefit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668084" y="6471173"/>
            <a:ext cx="9144000" cy="221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Higher scheme uptake means more capital reaching small businesses, supporting local livelihoods and job creation</a:t>
            </a:r>
          </a:p>
          <a:p>
            <a:pPr algn="ctr">
              <a:lnSpc>
                <a:spcPts val="64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 u="sng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CORTEX CREW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27176" y="2296604"/>
            <a:ext cx="6295668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Government Scheme Data -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098919" y="3513478"/>
            <a:ext cx="6354128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Language AI Infrastructure -</a:t>
            </a:r>
          </a:p>
          <a:p>
            <a:pPr algn="ctr">
              <a:lnSpc>
                <a:spcPts val="4800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028414" y="4732678"/>
            <a:ext cx="6493193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sz="4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Semantic Matching Method -</a:t>
            </a:r>
          </a:p>
          <a:p>
            <a:pPr algn="ctr">
              <a:lnSpc>
                <a:spcPts val="4920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4275983" y="6391202"/>
            <a:ext cx="7145536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9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PROTOTYPE-          </a:t>
            </a:r>
            <a:r>
              <a:rPr lang="en-US" b="true" sz="3900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4" tooltip="https://antigravity.google"/>
              </a:rPr>
              <a:t> Antigravity</a:t>
            </a:r>
            <a:r>
              <a:rPr lang="en-US" sz="39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algn="ctr">
              <a:lnSpc>
                <a:spcPts val="4680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8280678" y="2496629"/>
            <a:ext cx="9092922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b="true" sz="2900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5" tooltip="https://myscheme.gov.in"/>
              </a:rPr>
              <a:t>myscheme.gov.in</a:t>
            </a:r>
            <a:r>
              <a:rPr lang="en-US" sz="29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— National Government Services Portal</a:t>
            </a:r>
          </a:p>
          <a:p>
            <a:pPr algn="ctr">
              <a:lnSpc>
                <a:spcPts val="3480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7400555" y="3676650"/>
            <a:ext cx="10853168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Bhashini — Govt. of India National Language Translation Mission (</a:t>
            </a:r>
            <a:r>
              <a:rPr lang="en-US" b="true" sz="2600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6" tooltip="https://bhashini.gov.in"/>
              </a:rPr>
              <a:t>bhashini.gov.in)</a:t>
            </a:r>
          </a:p>
          <a:p>
            <a:pPr algn="ctr">
              <a:lnSpc>
                <a:spcPts val="5280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7521606" y="4791002"/>
            <a:ext cx="10509858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Sentence-BERT / Sentence-Transformers — sentence embedding models for semantic similarity (</a:t>
            </a:r>
            <a:r>
              <a:rPr lang="en-US" b="true" sz="3000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7" tooltip="https://sbert.net"/>
              </a:rPr>
              <a:t>SBERT.net)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DAHU6Lmijps</dc:identifier>
  <dcterms:modified xsi:type="dcterms:W3CDTF">2011-08-01T06:04:30Z</dcterms:modified>
  <cp:revision>1</cp:revision>
  <dc:title>Problem Statement ID – 26092 Problem Statement Title- Theme- PS Category- Software/Hardware Team ID- Team Name (Registered on portal)</dc:title>
</cp:coreProperties>
</file>